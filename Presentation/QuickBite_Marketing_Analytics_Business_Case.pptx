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varScale="1">
        <p:scale>
          <a:sx n="65" d="100"/>
          <a:sy n="65" d="100"/>
        </p:scale>
        <p:origin x="124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04.09.2026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04.09.2026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a:xfrm>
            <a:off x="1524000" y="3788019"/>
            <a:ext cx="9144000" cy="1655762"/>
          </a:xfrm>
        </p:spPr>
        <p:txBody>
          <a:bodyPr>
            <a:normAutofit fontScale="92500"/>
          </a:bodyPr>
          <a:lstStyle/>
          <a:p>
            <a:pPr algn="l"/>
            <a:r>
              <a:rPr lang="en-US" b="1" dirty="0" err="1"/>
              <a:t>QuickBite</a:t>
            </a:r>
            <a:r>
              <a:rPr lang="en-US" b="1" dirty="0"/>
              <a:t> </a:t>
            </a:r>
          </a:p>
          <a:p>
            <a:pPr algn="l"/>
            <a:r>
              <a:rPr lang="en-US" dirty="0"/>
              <a:t>Analyzing Customer Behavior, Marketing Performance &amp; Order Conversion</a:t>
            </a:r>
            <a:endParaRPr lang="nb-NO" dirty="0"/>
          </a:p>
          <a:p>
            <a:pPr algn="l"/>
            <a:r>
              <a:rPr lang="en-US" sz="2200" i="1" dirty="0"/>
              <a:t>A data-driven analysis to understand customer engagement, evaluate marketing effectiveness, and identify opportunities for business growth</a:t>
            </a:r>
            <a:r>
              <a:rPr lang="en-US" dirty="0"/>
              <a:t>.</a:t>
            </a:r>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40000" lnSpcReduction="20000"/>
          </a:bodyPr>
          <a:lstStyle/>
          <a:p>
            <a:pPr marL="0" indent="0">
              <a:lnSpc>
                <a:spcPct val="170000"/>
              </a:lnSpc>
              <a:buNone/>
            </a:pPr>
            <a:r>
              <a:rPr lang="en-US" sz="3200" b="1" dirty="0" err="1"/>
              <a:t>QuickBite</a:t>
            </a:r>
            <a:r>
              <a:rPr lang="en-US" sz="3200" dirty="0"/>
              <a:t>, a food-delivery platform, has recently experienced a decline in customer engagement and order conversion despite increasing its investment in digital marketing campaigns.</a:t>
            </a:r>
          </a:p>
          <a:p>
            <a:pPr marL="0" indent="0">
              <a:lnSpc>
                <a:spcPct val="170000"/>
              </a:lnSpc>
              <a:buNone/>
            </a:pPr>
            <a:r>
              <a:rPr lang="en-US" sz="3200" dirty="0"/>
              <a:t>The company wants to analyze its marketing and customer data to understand the reasons behind this decline and identify opportunities to improve its marketing performance.</a:t>
            </a:r>
          </a:p>
          <a:p>
            <a:pPr>
              <a:lnSpc>
                <a:spcPct val="170000"/>
              </a:lnSpc>
            </a:pPr>
            <a:endParaRPr lang="en-US" dirty="0"/>
          </a:p>
          <a:p>
            <a:pPr marL="0" indent="0">
              <a:lnSpc>
                <a:spcPct val="170000"/>
              </a:lnSpc>
              <a:buNone/>
            </a:pPr>
            <a:r>
              <a:rPr lang="en-US" b="1" dirty="0"/>
              <a:t>Key Points:</a:t>
            </a:r>
            <a:endParaRPr lang="en-US" dirty="0"/>
          </a:p>
          <a:p>
            <a:pPr lvl="0">
              <a:lnSpc>
                <a:spcPct val="170000"/>
              </a:lnSpc>
            </a:pPr>
            <a:r>
              <a:rPr lang="en-US" sz="3300" b="1" dirty="0"/>
              <a:t>Declining Customer Engagement:</a:t>
            </a:r>
            <a:r>
              <a:rPr lang="en-US" sz="3300" dirty="0"/>
              <a:t> Customer interactions with promotional content and the platform have decreased.</a:t>
            </a:r>
          </a:p>
          <a:p>
            <a:pPr lvl="0">
              <a:lnSpc>
                <a:spcPct val="170000"/>
              </a:lnSpc>
            </a:pPr>
            <a:r>
              <a:rPr lang="en-US" sz="3300" b="1" dirty="0"/>
              <a:t>Lower Order Conversion:</a:t>
            </a:r>
            <a:r>
              <a:rPr lang="en-US" sz="3300" dirty="0"/>
              <a:t> A smaller percentage of visitors are completing food orders.</a:t>
            </a:r>
          </a:p>
          <a:p>
            <a:pPr lvl="0">
              <a:lnSpc>
                <a:spcPct val="170000"/>
              </a:lnSpc>
            </a:pPr>
            <a:r>
              <a:rPr lang="en-US" sz="3300" b="1" dirty="0"/>
              <a:t>Increasing Marketing Costs:</a:t>
            </a:r>
            <a:r>
              <a:rPr lang="en-US" sz="3300" dirty="0"/>
              <a:t> The company is spending more on campaigns without achieving the expected results.</a:t>
            </a:r>
          </a:p>
          <a:p>
            <a:pPr lvl="0">
              <a:lnSpc>
                <a:spcPct val="170000"/>
              </a:lnSpc>
            </a:pPr>
            <a:r>
              <a:rPr lang="en-US" sz="3300" b="1" dirty="0"/>
              <a:t>Need for Customer Feedback Analysis:</a:t>
            </a:r>
            <a:r>
              <a:rPr lang="en-US" sz="3300" dirty="0"/>
              <a:t> Understanding customer opinions, complaints, and satisfaction levels can help </a:t>
            </a:r>
            <a:r>
              <a:rPr lang="en-US" sz="3300" dirty="0" err="1"/>
              <a:t>QuickBite</a:t>
            </a:r>
            <a:r>
              <a:rPr lang="en-US" sz="3300" dirty="0"/>
              <a:t> improve its services and marketing approach.</a:t>
            </a:r>
          </a:p>
          <a:p>
            <a:pPr marL="457200" lvl="1" indent="0">
              <a:lnSpc>
                <a:spcPct val="170000"/>
              </a:lnSpc>
              <a:buNone/>
            </a:pPr>
            <a:endParaRPr lang="en-US" dirty="0"/>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Optimize Marketing Performance</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Autofit/>
          </a:bodyPr>
          <a:lstStyle/>
          <a:p>
            <a:pPr marL="0" indent="0">
              <a:lnSpc>
                <a:spcPct val="150000"/>
              </a:lnSpc>
              <a:buNone/>
            </a:pPr>
            <a:r>
              <a:rPr lang="en-US" sz="1200" dirty="0"/>
              <a:t>Hi Data Analyst,</a:t>
            </a:r>
          </a:p>
          <a:p>
            <a:pPr marL="0" indent="0">
              <a:lnSpc>
                <a:spcPct val="150000"/>
              </a:lnSpc>
              <a:buNone/>
            </a:pPr>
            <a:r>
              <a:rPr lang="en-US" sz="1200" dirty="0"/>
              <a:t>I hope you’re doing well.</a:t>
            </a:r>
          </a:p>
          <a:p>
            <a:pPr marL="0" indent="0">
              <a:lnSpc>
                <a:spcPct val="150000"/>
              </a:lnSpc>
              <a:buNone/>
            </a:pPr>
            <a:r>
              <a:rPr lang="en-US" sz="1200" dirty="0"/>
              <a:t>I’m the </a:t>
            </a:r>
            <a:r>
              <a:rPr lang="en-US" sz="1200" b="1" dirty="0"/>
              <a:t>Marketing Manager at </a:t>
            </a:r>
            <a:r>
              <a:rPr lang="en-US" sz="1200" b="1" dirty="0" err="1"/>
              <a:t>QuickBite</a:t>
            </a:r>
            <a:r>
              <a:rPr lang="en-US" sz="1200" dirty="0"/>
              <a:t>, and I’m reaching out to request your support in analyzing our recent marketing performance.</a:t>
            </a:r>
          </a:p>
          <a:p>
            <a:pPr marL="0" indent="0">
              <a:lnSpc>
                <a:spcPct val="150000"/>
              </a:lnSpc>
              <a:buNone/>
            </a:pPr>
            <a:r>
              <a:rPr lang="en-US" sz="1200" dirty="0"/>
              <a:t>Although we have increased our spending on digital campaigns, we have noticed a decline in customer engagement and the percentage of visitors who place orders. At the same time, our marketing costs have continued to increase, while the results have not improved as expected.</a:t>
            </a:r>
          </a:p>
          <a:p>
            <a:pPr marL="0" indent="0">
              <a:lnSpc>
                <a:spcPct val="150000"/>
              </a:lnSpc>
              <a:buNone/>
            </a:pPr>
            <a:r>
              <a:rPr lang="en-US" sz="1200" dirty="0"/>
              <a:t>We would like to conduct a detailed analysis of our campaign performance to understand what is working, what is underperforming, and where we can optimize our marketing efforts. We have collected data from several sources, including campaign performance, customer interactions, and customer feedback. Your analysis will help us identify important patterns and provide practical recommendations for improving our marketing strategy.</a:t>
            </a:r>
          </a:p>
          <a:p>
            <a:pPr marL="0" indent="0">
              <a:lnSpc>
                <a:spcPct val="150000"/>
              </a:lnSpc>
              <a:buNone/>
            </a:pPr>
            <a:r>
              <a:rPr lang="en-US" sz="1200" dirty="0"/>
              <a:t>Looking forward to your insights.</a:t>
            </a:r>
          </a:p>
          <a:p>
            <a:pPr marL="0" indent="0">
              <a:lnSpc>
                <a:spcPct val="150000"/>
              </a:lnSpc>
              <a:buNone/>
            </a:pPr>
            <a:r>
              <a:rPr lang="en-US" sz="1200" b="1" dirty="0"/>
              <a:t>Best regards,</a:t>
            </a:r>
            <a:br>
              <a:rPr lang="en-US" sz="1200" dirty="0"/>
            </a:br>
            <a:r>
              <a:rPr lang="en-US" sz="1200" b="1" dirty="0"/>
              <a:t>Sarah Khan</a:t>
            </a:r>
            <a:br>
              <a:rPr lang="en-US" sz="1200" dirty="0"/>
            </a:br>
            <a:r>
              <a:rPr lang="en-US" sz="1200" dirty="0"/>
              <a:t>Marketing Manager</a:t>
            </a:r>
            <a:br>
              <a:rPr lang="en-US" sz="1200" dirty="0"/>
            </a:br>
            <a:r>
              <a:rPr lang="en-US" sz="1200" dirty="0" err="1"/>
              <a:t>QuickBite</a:t>
            </a:r>
            <a:endParaRPr lang="en-US" sz="1200" dirty="0"/>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Customer Feedback Analysis</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Autofit/>
          </a:bodyPr>
          <a:lstStyle/>
          <a:p>
            <a:pPr marL="0" indent="0">
              <a:lnSpc>
                <a:spcPct val="170000"/>
              </a:lnSpc>
              <a:buNone/>
            </a:pPr>
            <a:r>
              <a:rPr lang="en-US" sz="1100" dirty="0"/>
              <a:t>Hi Data Analyst,</a:t>
            </a:r>
          </a:p>
          <a:p>
            <a:pPr marL="0" indent="0">
              <a:lnSpc>
                <a:spcPct val="170000"/>
              </a:lnSpc>
              <a:buNone/>
            </a:pPr>
            <a:r>
              <a:rPr lang="en-US" sz="1100" dirty="0"/>
              <a:t>I’m the </a:t>
            </a:r>
            <a:r>
              <a:rPr lang="en-US" sz="1100" b="1" dirty="0"/>
              <a:t>Customer Experience Manager at </a:t>
            </a:r>
            <a:r>
              <a:rPr lang="en-US" sz="1100" b="1" dirty="0" err="1"/>
              <a:t>QuickBite</a:t>
            </a:r>
            <a:r>
              <a:rPr lang="en-US" sz="1100" dirty="0"/>
              <a:t>, and I would like your assistance in analyzing our recent customer feedback.</a:t>
            </a:r>
          </a:p>
          <a:p>
            <a:pPr marL="0" indent="0">
              <a:lnSpc>
                <a:spcPct val="170000"/>
              </a:lnSpc>
              <a:buNone/>
            </a:pPr>
            <a:r>
              <a:rPr lang="en-US" sz="1100" dirty="0"/>
              <a:t>During the past few months, we have noticed a decrease in customer satisfaction and engagement, which may be contributing to the decline in completed orders.</a:t>
            </a:r>
          </a:p>
          <a:p>
            <a:pPr marL="0" indent="0">
              <a:lnSpc>
                <a:spcPct val="170000"/>
              </a:lnSpc>
              <a:buNone/>
            </a:pPr>
            <a:r>
              <a:rPr lang="en-US" sz="1100" dirty="0"/>
              <a:t>We have collected a large amount of customer feedback, including food delivery reviews, service comments, and online customer responses. We believe that analyzing this information can help us understand the main concerns and expectations of our customers.</a:t>
            </a:r>
          </a:p>
          <a:p>
            <a:pPr marL="0" indent="0">
              <a:lnSpc>
                <a:spcPct val="170000"/>
              </a:lnSpc>
              <a:buNone/>
            </a:pPr>
            <a:r>
              <a:rPr lang="en-US" sz="1100" dirty="0"/>
              <a:t>Your expertise in data analysis will help us identify common themes, customer sentiment, and recurring service issues. These insights can then be used to improve the customer experience and support better marketing and business decisions.</a:t>
            </a:r>
          </a:p>
          <a:p>
            <a:pPr marL="0" indent="0">
              <a:lnSpc>
                <a:spcPct val="170000"/>
              </a:lnSpc>
              <a:buNone/>
            </a:pPr>
            <a:r>
              <a:rPr lang="en-US" sz="1100" dirty="0"/>
              <a:t>Thank you for your assistance.</a:t>
            </a:r>
          </a:p>
          <a:p>
            <a:pPr marL="0" indent="0">
              <a:lnSpc>
                <a:spcPct val="170000"/>
              </a:lnSpc>
              <a:buNone/>
            </a:pPr>
            <a:r>
              <a:rPr lang="en-US" sz="1100" b="1" dirty="0"/>
              <a:t>Best regards,</a:t>
            </a:r>
            <a:br>
              <a:rPr lang="en-US" sz="1100" dirty="0"/>
            </a:br>
            <a:r>
              <a:rPr lang="en-US" sz="1100" b="1" dirty="0"/>
              <a:t>Omar Hassan</a:t>
            </a:r>
            <a:br>
              <a:rPr lang="en-US" sz="1100" dirty="0"/>
            </a:br>
            <a:r>
              <a:rPr lang="en-US" sz="1100" dirty="0"/>
              <a:t>Customer Experience Manager</a:t>
            </a:r>
            <a:br>
              <a:rPr lang="en-US" sz="1100" dirty="0"/>
            </a:br>
            <a:r>
              <a:rPr lang="en-US" sz="1100" dirty="0" err="1"/>
              <a:t>QuickBite</a:t>
            </a:r>
            <a:endParaRPr lang="en-US" sz="1100"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Autofit/>
          </a:bodyPr>
          <a:lstStyle/>
          <a:p>
            <a:pPr lvl="0">
              <a:lnSpc>
                <a:spcPct val="150000"/>
              </a:lnSpc>
            </a:pPr>
            <a:r>
              <a:rPr lang="en-US" sz="2200" b="1" dirty="0"/>
              <a:t>Order Conversion Rate:</a:t>
            </a:r>
            <a:r>
              <a:rPr lang="en-US" sz="2200" dirty="0"/>
              <a:t> Percentage of platform visitors who complete a food order.</a:t>
            </a:r>
          </a:p>
          <a:p>
            <a:pPr lvl="0">
              <a:lnSpc>
                <a:spcPct val="150000"/>
              </a:lnSpc>
            </a:pPr>
            <a:r>
              <a:rPr lang="en-US" sz="2200" b="1" dirty="0"/>
              <a:t>Customer Engagement Rate:</a:t>
            </a:r>
            <a:r>
              <a:rPr lang="en-US" sz="2200" dirty="0"/>
              <a:t> Level of interaction with </a:t>
            </a:r>
            <a:r>
              <a:rPr lang="en-US" sz="2200" dirty="0" err="1"/>
              <a:t>QuickBite's</a:t>
            </a:r>
            <a:r>
              <a:rPr lang="en-US" sz="2200" dirty="0"/>
              <a:t> promotional content, including clicks, likes, comments, and campaign interactions.</a:t>
            </a:r>
          </a:p>
          <a:p>
            <a:pPr lvl="0">
              <a:lnSpc>
                <a:spcPct val="150000"/>
              </a:lnSpc>
            </a:pPr>
            <a:r>
              <a:rPr lang="en-US" sz="2200" b="1" dirty="0"/>
              <a:t>Average Order Value (AOV):</a:t>
            </a:r>
            <a:r>
              <a:rPr lang="en-US" sz="2200" dirty="0"/>
              <a:t> Average amount spent by customers on each completed order.</a:t>
            </a:r>
          </a:p>
          <a:p>
            <a:pPr lvl="0">
              <a:lnSpc>
                <a:spcPct val="150000"/>
              </a:lnSpc>
            </a:pPr>
            <a:r>
              <a:rPr lang="en-US" sz="2200" b="1" dirty="0"/>
              <a:t>Customer Feedback Score:</a:t>
            </a:r>
            <a:r>
              <a:rPr lang="en-US" sz="2200" dirty="0"/>
              <a:t> Average rating and satisfaction score provided by customers after their orders.</a:t>
            </a:r>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a:xfrm>
            <a:off x="838200" y="1600702"/>
            <a:ext cx="10515600" cy="4735930"/>
          </a:xfrm>
        </p:spPr>
        <p:txBody>
          <a:bodyPr>
            <a:noAutofit/>
          </a:bodyPr>
          <a:lstStyle/>
          <a:p>
            <a:pPr>
              <a:lnSpc>
                <a:spcPct val="170000"/>
              </a:lnSpc>
            </a:pPr>
            <a:r>
              <a:rPr lang="en-US" sz="1300" b="1" dirty="0"/>
              <a:t>Increase Conversion Rates:</a:t>
            </a:r>
          </a:p>
          <a:p>
            <a:pPr lvl="1">
              <a:lnSpc>
                <a:spcPct val="170000"/>
              </a:lnSpc>
            </a:pPr>
            <a:r>
              <a:rPr lang="en-US" sz="1300" b="1" dirty="0"/>
              <a:t>Goal:</a:t>
            </a:r>
            <a:r>
              <a:rPr lang="en-US" sz="1300" dirty="0"/>
              <a:t> Identify the factors influencing customers' decisions to complete an order.</a:t>
            </a:r>
          </a:p>
          <a:p>
            <a:pPr lvl="1">
              <a:lnSpc>
                <a:spcPct val="170000"/>
              </a:lnSpc>
            </a:pPr>
            <a:r>
              <a:rPr lang="en-US" sz="1300" b="1" dirty="0"/>
              <a:t>Insight:</a:t>
            </a:r>
            <a:r>
              <a:rPr lang="en-US" sz="1300" dirty="0"/>
              <a:t> Find important stages in the customer journey where users abandon the ordering process and recommend ways to improve conversion.</a:t>
            </a:r>
          </a:p>
          <a:p>
            <a:pPr>
              <a:lnSpc>
                <a:spcPct val="170000"/>
              </a:lnSpc>
            </a:pPr>
            <a:r>
              <a:rPr lang="en-US" sz="1300" b="1" dirty="0"/>
              <a:t>Enhance Customer Engagement:</a:t>
            </a:r>
            <a:endParaRPr lang="en-US" sz="1300" dirty="0"/>
          </a:p>
          <a:p>
            <a:pPr lvl="1">
              <a:lnSpc>
                <a:spcPct val="170000"/>
              </a:lnSpc>
            </a:pPr>
            <a:r>
              <a:rPr lang="en-US" sz="1300" b="1" dirty="0"/>
              <a:t>Goal:</a:t>
            </a:r>
            <a:r>
              <a:rPr lang="en-US" sz="1300" dirty="0"/>
              <a:t> Determine which marketing channels and content generate the strongest customer response.</a:t>
            </a:r>
          </a:p>
          <a:p>
            <a:pPr lvl="1">
              <a:lnSpc>
                <a:spcPct val="170000"/>
              </a:lnSpc>
            </a:pPr>
            <a:r>
              <a:rPr lang="en-US" sz="1300" b="1" dirty="0"/>
              <a:t>Insight:</a:t>
            </a:r>
            <a:r>
              <a:rPr lang="en-US" sz="1300" dirty="0"/>
              <a:t> Compare engagement across different campaign types and identify the approaches that attract the most customer interaction.</a:t>
            </a:r>
          </a:p>
          <a:p>
            <a:pPr>
              <a:lnSpc>
                <a:spcPct val="170000"/>
              </a:lnSpc>
            </a:pPr>
            <a:r>
              <a:rPr lang="en-US" sz="1300" b="1" dirty="0"/>
              <a:t>Improve Customer Feedback Scores:</a:t>
            </a:r>
            <a:endParaRPr lang="en-US" sz="1300" dirty="0"/>
          </a:p>
          <a:p>
            <a:pPr lvl="1">
              <a:lnSpc>
                <a:spcPct val="170000"/>
              </a:lnSpc>
            </a:pPr>
            <a:r>
              <a:rPr lang="en-US" sz="1300" b="1" dirty="0"/>
              <a:t>Goal:</a:t>
            </a:r>
            <a:r>
              <a:rPr lang="en-US" sz="1300" dirty="0"/>
              <a:t> Understand common themes in customer reviews </a:t>
            </a:r>
            <a:r>
              <a:rPr lang="en-US" sz="1300" b="1" dirty="0"/>
              <a:t>Goal:</a:t>
            </a:r>
            <a:r>
              <a:rPr lang="en-US" sz="1300" dirty="0"/>
              <a:t> Understand the main issues and positive experiences mentioned in customer feedback.</a:t>
            </a:r>
          </a:p>
          <a:p>
            <a:pPr lvl="1">
              <a:lnSpc>
                <a:spcPct val="170000"/>
              </a:lnSpc>
            </a:pPr>
            <a:r>
              <a:rPr lang="en-US" sz="1300" b="1" dirty="0"/>
              <a:t>Insight:</a:t>
            </a:r>
            <a:r>
              <a:rPr lang="en-US" sz="1300" dirty="0"/>
              <a:t> Identify recurring complaints, customer preferences, and positive themes to help improve </a:t>
            </a:r>
            <a:r>
              <a:rPr lang="en-US" sz="1300" dirty="0" err="1"/>
              <a:t>QuickBite's</a:t>
            </a:r>
            <a:r>
              <a:rPr lang="en-US" sz="1300" dirty="0"/>
              <a:t> service and customer experience.</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472</TotalTime>
  <Words>699</Words>
  <Application>Microsoft Office PowerPoint</Application>
  <PresentationFormat>Widescreen</PresentationFormat>
  <Paragraphs>44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Optimize Marketing Performance</vt:lpstr>
      <vt:lpstr>Subject: Request for Customer Feedback Analysis</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Maheen Khalid</cp:lastModifiedBy>
  <cp:revision>5</cp:revision>
  <dcterms:created xsi:type="dcterms:W3CDTF">2024-07-20T13:50:58Z</dcterms:created>
  <dcterms:modified xsi:type="dcterms:W3CDTF">2026-09-04T00:31:48Z</dcterms:modified>
</cp:coreProperties>
</file>